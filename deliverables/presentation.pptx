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949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Can AI Average Two</a:t>
            </a:r>
            <a:br/>
            <a:r>
              <a:t>Optimization Ideas?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E0F2FE"/>
                </a:solidFill>
                <a:latin typeface="Aptos"/>
              </a:defRPr>
            </a:pPr>
            <a:r>
              <a:t>A controlled pilot study of DiffusionGemma representations for Project Darwin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949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Research communication package • September 18,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143000"/>
            <a:ext cx="246888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14300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IDEA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560320"/>
            <a:ext cx="246888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560320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MIX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3977639"/>
            <a:ext cx="246888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977639"/>
            <a:ext cx="24688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IDEA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The accessible version: what are we trying to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91440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1 • Start with two useful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3081528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Example A: use a bounded counting sort.</a:t>
            </a:r>
            <a:br/>
            <a:br/>
            <a:r>
              <a:t>Example B: compile custom loops with Numba.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91440" cy="4206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2 • Combine their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3081528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A language model represents text using large arrays of numbers. We tested whether averaging or mixing those arrays preserves both meanings.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91440" cy="420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72184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3 • Ask for one new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20240"/>
            <a:ext cx="3081528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Success means the generated idea is coherent, relevant, and clearly uses both parent techniques—not merely fluent 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research design summarized from experiments/001–013/spec.json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How diffusion text generation differs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8840" y="841248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Simple conceptual model—not a claim about every implementation detail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9144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7510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23160"/>
            <a:ext cx="207568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describes 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5146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9144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97510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Continuous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423160"/>
            <a:ext cx="207568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numbers carry contextual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5146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828800"/>
            <a:ext cx="91440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97510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Token projection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423160"/>
            <a:ext cx="207568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each position becomes a token choice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5146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423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828800"/>
            <a:ext cx="91440" cy="2286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6608" y="1975104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Denoising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8" y="2423160"/>
            <a:ext cx="207568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tokens are refined into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102A43"/>
                </a:solidFill>
                <a:latin typeface="Aptos"/>
              </a:defRPr>
            </a:pPr>
            <a:r>
              <a:t>The key risk: averaging can preserve numbers without preserving a valid sequence-level meaning.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experiments/005-projection-geometry-diagnostic | experiments/006-top-candidate-projection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Research question, hypothesis, and success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9144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26463"/>
            <a:ext cx="4983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49560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Can prompt-conditioned numerical representations from two optimization ideas be combined so the model generates one coherent idea retaining both parents?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9144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426463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874519"/>
            <a:ext cx="47731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Careful alignment plus interpolation or logit mixing may create a controllable path between parent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91440" cy="1965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575304"/>
            <a:ext cx="4983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023360"/>
            <a:ext cx="4956048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Both parent indicator groups present; coherent task-relevant idea; no prohibited shortcut.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2900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429000"/>
            <a:ext cx="91440" cy="1965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575304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Control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023360"/>
            <a:ext cx="4773168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Do not interpret a midpoint unless both endpoints first reproduce their own parent concepts.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experiments/004/spec.json | experiments/009/spec.json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Controlled experimental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920240"/>
            <a:ext cx="166420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920240"/>
            <a:ext cx="91440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66544"/>
            <a:ext cx="13441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Freeze parents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514600"/>
            <a:ext cx="131673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named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2697480"/>
            <a:ext cx="274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8" y="1920240"/>
            <a:ext cx="166420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50008" y="1920240"/>
            <a:ext cx="91440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2066544"/>
            <a:ext cx="13441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Align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514600"/>
            <a:ext cx="131673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same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6" y="2697480"/>
            <a:ext cx="274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920240"/>
            <a:ext cx="166420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1920240"/>
            <a:ext cx="91440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2066544"/>
            <a:ext cx="13441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Validate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514600"/>
            <a:ext cx="131673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A and B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697480"/>
            <a:ext cx="274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920240"/>
            <a:ext cx="166420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920240"/>
            <a:ext cx="91440" cy="2194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066544"/>
            <a:ext cx="13441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Manipulate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514600"/>
            <a:ext cx="131673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states / tokens / logits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697480"/>
            <a:ext cx="274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920240"/>
            <a:ext cx="166420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65592" y="1920240"/>
            <a:ext cx="91440" cy="2194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066544"/>
            <a:ext cx="13441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514600"/>
            <a:ext cx="131673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fixed seeds +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97480"/>
            <a:ext cx="274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1920240"/>
            <a:ext cx="166420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04120" y="1920240"/>
            <a:ext cx="91440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2066544"/>
            <a:ext cx="13441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2514600"/>
            <a:ext cx="1316736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transparent indicators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00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02A43"/>
                </a:solidFill>
                <a:latin typeface="Aptos"/>
              </a:defRPr>
            </a:pPr>
            <a:r>
              <a:t>Raw outputs, failures, hashes, seeds, model revision, and runtime are preserved in each experiment directory.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experiments/001–013/results/results.json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Twelve experiments formed the diagnostic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8840" y="841248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Experiment 013 then tested Sergiy's prompt-only follow-up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38074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001 Code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2880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12344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2424" y="123444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38074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002 Prompt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2880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2344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23444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38074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003 Specificity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82880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71432" y="12344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71432" y="123444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38074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004 Weight sweep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82880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432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74320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88950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005 Geometry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33756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2424" y="27432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2424" y="274320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288950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006 Top candidates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333756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27432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1928" y="274320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288950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007 Stochastic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33756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71432" y="27432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71432" y="274320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88950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008 Dual logits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33756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2519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25196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439826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009 Sorting replication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" y="484632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92424" y="42519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92424" y="425196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93592" y="439826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010 Endpoint repair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3592" y="484632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1928" y="42519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81928" y="425196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3096" y="439826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011 Nonsorting screen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83096" y="484632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71432" y="425196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71432" y="425196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439826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012 Nonsorting composition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4846320"/>
            <a:ext cx="225856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013 follow-up: complete parent records in one prompt, with no parent-derived canvas state.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experiments/001–013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Experiments 001–003: controls changed 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91440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001 • Code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3172968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Parent techniques were recognizable, but all generated programs—including the mixture—were invalid Python.</a:t>
            </a:r>
            <a:br/>
            <a:br/>
            <a:r>
              <a:t>Lesson: move first to shorter idea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91440" cy="4389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002 • Prompt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74519"/>
            <a:ext cx="3172968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The model retained generic counting sort but lost NumPy, bincount, and repeat from Parent B.</a:t>
            </a:r>
            <a:br/>
            <a:br/>
            <a:r>
              <a:t>Lesson: the midpoint was uninterpretable because an endpoint was weak.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91440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003 • Specificity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74519"/>
            <a:ext cx="3172968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An explicit source prompt recovered NumPy + bincount + repeat from 1 through 8 steps.</a:t>
            </a:r>
            <a:br/>
            <a:br/>
            <a:r>
              <a:t>Lesson: prompt specificity is a causal control, not cosmetic wording.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experiments/001/results/results.json | experiments/002/results/results.json | experiments/003/results/results.json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004: a controlled sweep found no semantic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acked bars across weights 0.1 through 0.9 show outputs classified as Parent A, unrelated, or Parent B; none are hybrid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315200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41732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83879" y="1417320"/>
            <a:ext cx="91440" cy="11430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5048" y="1563624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011680"/>
            <a:ext cx="299008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Both parents passed across 3 seeds.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74320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2743200"/>
            <a:ext cx="91440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2889504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Intermediate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3337560"/>
            <a:ext cx="299008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0/27 hybrids.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0690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4069080"/>
            <a:ext cx="91440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4215384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4663440"/>
            <a:ext cx="2990088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Categorical A-like, unrelated, and B-like regions—not a smooth compositional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experiments/004-controlled-prompt-weight-sweep/results/results.json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005: vector cancellation was not the explanation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our bars show positive global and position cosine similarities and 87.8 percent midpoint norm reten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1323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41732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141732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7888" y="156362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Positive similarity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2011680"/>
            <a:ext cx="312724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Global cosine = 0.542.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743200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2743200"/>
            <a:ext cx="91440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288950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No opposite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3337560"/>
            <a:ext cx="3127248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Negative position count =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06908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4069080"/>
            <a:ext cx="9144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421538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Strong retained magnitude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663440"/>
            <a:ext cx="312724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Midpoint retained 87.8% of mean parent norm.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experiments/005-projection-geometry-diagnostic/results/results.json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006: the hard projection creates a patchwork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ouped bars show zero positions with both endpoint tokens at top-1, 52.5 percent at top-5, and 95 percent at top-20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13232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41732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91440" cy="12801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2168" y="1563624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2168" y="2011680"/>
            <a:ext cx="3218688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No endpoint-distinct position had both alternatives available at rank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88036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01000" y="2880360"/>
            <a:ext cx="91440" cy="12801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3026664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Top-20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3474720"/>
            <a:ext cx="3218688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Both alternatives appeared at 95.0% of positions.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3434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4343400"/>
            <a:ext cx="9144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4489704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Likely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4937760"/>
            <a:ext cx="3218688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Independent per-position argmax discards sequence-level combinations.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experiments/006-top-candidate-projection/results/results.json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007: stochastic top-20 sampling did not rescue meaning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0233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B91C1C"/>
                </a:solidFill>
                <a:latin typeface="Aptos"/>
              </a:defRPr>
            </a:pPr>
            <a:r>
              <a:t>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02A43"/>
                </a:solidFill>
                <a:latin typeface="Aptos"/>
              </a:defRPr>
            </a:pPr>
            <a:r>
              <a:t>midpoint hybrids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371600"/>
            <a:ext cx="5943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4920" y="1371600"/>
            <a:ext cx="91440" cy="12344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76088" y="1517904"/>
            <a:ext cx="5623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088" y="1965960"/>
            <a:ext cx="55961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Parent A and B endpoints passed at temperatures 0.5, 1.0, and 2.0.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834640"/>
            <a:ext cx="5943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74920" y="2834640"/>
            <a:ext cx="91440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6088" y="2980944"/>
            <a:ext cx="5623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3429000"/>
            <a:ext cx="55961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Sample independently from temperature-scaled top-20 token candidates, then denoise for 8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4297680"/>
            <a:ext cx="5943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429768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4443984"/>
            <a:ext cx="5623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4892040"/>
            <a:ext cx="55961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More token variety did not reconstruct a coherent combination of counting sort and Numba.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experiments/007-stochastic-projection/results/results.json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008: mixing logits each denoising step still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r chart shows zero hybrids for all tested numerical methods and 17 of 18 strict hybrids for direct prompts across Experiments 008, 009, and 012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371600"/>
            <a:ext cx="3931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91440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36408" y="1517904"/>
            <a:ext cx="3611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Dual-logit intermediates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965960"/>
            <a:ext cx="3584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0/9 hybrids.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51760"/>
            <a:ext cx="3931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651760"/>
            <a:ext cx="91440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2798064"/>
            <a:ext cx="3611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Hard midpoint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246120"/>
            <a:ext cx="3584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0/3 hybrids.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931920"/>
            <a:ext cx="3931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3931920"/>
            <a:ext cx="91440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4078224"/>
            <a:ext cx="3611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Direct diffusion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526280"/>
            <a:ext cx="3584448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3/3 hybrids.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52578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</a:defRPr>
            </a:pPr>
            <a:r>
              <a:t>The model could combine the ideas when told explicitly, but not through the tested numerical paths.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experiments/008-dual-prompt-logit-mixing/results/results.json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009: replication across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91440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Vectorized counting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20240"/>
            <a:ext cx="312724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Endpoint gate: PASS</a:t>
            </a:r>
            <a:br/>
            <a:br/>
            <a:r>
              <a:t>Numerical midpoints: 0/6</a:t>
            </a:r>
            <a:br/>
            <a:r>
              <a:t>Direct prompts: 3/3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91440" cy="4297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7218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Fast path +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12724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Endpoint gate: PASS</a:t>
            </a:r>
            <a:br/>
            <a:br/>
            <a:r>
              <a:t>Numerical midpoints: 0/6</a:t>
            </a:r>
            <a:br/>
            <a:r>
              <a:t>Direct prompts: 3/3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91440" cy="4297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7218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Parallel histogram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20240"/>
            <a:ext cx="312724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Endpoint gate: BLOCKED</a:t>
            </a:r>
            <a:br/>
            <a:br/>
            <a:r>
              <a:t>Parent B failed 2/3 seeds. No midpoint inference was allowed.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experiments/009-multi-pair-replication/results/results.json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010: reproducibility passed; endpoint specificity did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42976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7218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Deterministic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303580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3/3 raw outputs reproduced canonically.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91440" cy="4297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7218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Strengthened Parent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303580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1/3 seeds retained all required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91440" cy="4297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7218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Strengthened Parent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20240"/>
            <a:ext cx="303580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0/3 seeds retained all required groups.</a:t>
            </a:r>
            <a:br/>
            <a:br/>
            <a:r>
              <a:t>Therefore no midpoint was admissible.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experiments/010-histogram-endpoint-specificity/results/results.json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011: nonsorting endpoint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32918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600" b="1">
                <a:solidFill>
                  <a:srgbClr val="15803D"/>
                </a:solidFill>
                <a:latin typeface="Aptos"/>
              </a:defRPr>
            </a:pPr>
            <a:r>
              <a:t>3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02A43"/>
                </a:solidFill>
                <a:latin typeface="Aptos"/>
              </a:defRPr>
            </a:pPr>
            <a:r>
              <a:t>pairs passed both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2588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1960" y="1325880"/>
            <a:ext cx="91440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472184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1920240"/>
            <a:ext cx="299008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Matrix: BLAS + tiling</a:t>
            </a:r>
            <a:br/>
            <a:br/>
            <a:r>
              <a:t>Graph: deque BFS + CSR</a:t>
            </a:r>
            <a:br/>
            <a:br/>
            <a:r>
              <a:t>Image: vectorization + batching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32588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325880"/>
            <a:ext cx="91440" cy="4297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1472184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1920240"/>
            <a:ext cx="299008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Regex + memory mapping</a:t>
            </a:r>
            <a:br/>
            <a:br/>
            <a:r>
              <a:t>Compiled-regex endpoint passed only 1/3 seeds, so the pair was excluded from midpoint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experiments/011-nonsorting-endpoint-screen/results/results.json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012: the negative result replicated beyond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91440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Matrix multiplication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74519"/>
            <a:ext cx="317296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Dual logit: 0/3</a:t>
            </a:r>
            <a:br/>
            <a:r>
              <a:t>Hard midpoint: 0/3</a:t>
            </a:r>
            <a:br/>
            <a:r>
              <a:t>Direct prompt: 3/3 strict</a:t>
            </a:r>
            <a:br/>
            <a:br/>
            <a:r>
              <a:t>Direct prompts combined BLAS-backed matmul with cache-sized blocks.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2801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280160"/>
            <a:ext cx="91440" cy="4434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Sparse graph BFS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74519"/>
            <a:ext cx="317296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Dual logit: 0/3</a:t>
            </a:r>
            <a:br/>
            <a:r>
              <a:t>Hard midpoint: 0/3</a:t>
            </a:r>
            <a:br/>
            <a:r>
              <a:t>Direct prompt: 2/3 strict</a:t>
            </a:r>
            <a:br/>
            <a:br/>
            <a:r>
              <a:t>The third was human-identifiable but damaged `indptr` to `` ` `ptr``.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128016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5592" y="1280160"/>
            <a:ext cx="91440" cy="4434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Image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3172968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Dual logit: 0/3</a:t>
            </a:r>
            <a:br/>
            <a:r>
              <a:t>Hard midpoint: 0/3</a:t>
            </a:r>
            <a:br/>
            <a:r>
              <a:t>Direct prompt: 3/3 strict</a:t>
            </a:r>
            <a:br/>
            <a:br/>
            <a:r>
              <a:t>Direct prompts combined float32 broadcasting with bounded batches.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experiments/012-nonsorting-composition/results/results.json | experiments/012-nonsorting-composition/results/assessment.md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Experiment 013: all parent context in the prompt, blank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520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91440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Prompt-only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74519"/>
            <a:ext cx="317296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Both complete frozen parent records were placed in one prompt.</a:t>
            </a:r>
            <a:br/>
            <a:br/>
            <a:r>
              <a:t>No parent embedding, hidden state, token canvas, or logits were supplied.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280160"/>
            <a:ext cx="3520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4256" y="1280160"/>
            <a:ext cx="91440" cy="42976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Strict aggregate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74519"/>
            <a:ext cx="317296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Full context: 8/9</a:t>
            </a:r>
            <a:br/>
            <a:r>
              <a:t>Concise baseline: 8/9</a:t>
            </a:r>
            <a:br/>
            <a:br/>
            <a:r>
              <a:t>Aggregate improvement: none.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1280160"/>
            <a:ext cx="35204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5592" y="1280160"/>
            <a:ext cx="91440" cy="4297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26463"/>
            <a:ext cx="3200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Pair-level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3172968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Matrix: 3/3</a:t>
            </a:r>
            <a:br/>
            <a:r>
              <a:t>Graph: 3/3</a:t>
            </a:r>
            <a:br/>
            <a:r>
              <a:t>Image: 2/3</a:t>
            </a:r>
            <a:br/>
            <a:br/>
            <a:r>
              <a:t>The image failure omitted output order but retained vectorization and batching.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Aptos"/>
              </a:defRPr>
            </a:pPr>
            <a:r>
              <a:t>Result: Sergiy's blank-canvas prompt-only approach works reliably, but the longer context did not outperform the concise explicit prompt.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experiments/013-full-context-blank-canvas/results/results.json | experiments/013-full-context-blank-canvas/results/assessment.md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Aggregate endpoint-valid result across four workloads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acked bars compare zero of 42 hybrids from numerical representation methods with 17 of 18 strict hybrids from direct diffusion prompting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649224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417320"/>
            <a:ext cx="3977639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06640" y="1417320"/>
            <a:ext cx="91440" cy="14630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8" y="1563624"/>
            <a:ext cx="36575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Numerical representation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011680"/>
            <a:ext cx="36301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0/42 candidate hybrids.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154680"/>
            <a:ext cx="3977639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3154680"/>
            <a:ext cx="91440" cy="14630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8" y="3300984"/>
            <a:ext cx="365759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Direct diffusion prompting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3749040"/>
            <a:ext cx="36301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17/18 strict candidate hybrids.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07492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Aptos"/>
              </a:defRPr>
            </a:pPr>
            <a:r>
              <a:t>Pilot contrast—not a population estimate.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experiments/008/results/results.json | experiments/009/results/results.json | experiments/012/results/results.json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What actually succeeded?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Reproducible full-model execution with seeds, hashes, revisions, timings, and preserved raw outputs.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Endpoint decoding when prompts named the required implementation details.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A causal diagnostic: poor composition was not explained by simple vector cancellation.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A likely bottleneck: useful endpoint alternatives survived below top-1 but hard projection broke sequence-level meaning.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Direct diffusion prompting composed both parents 17/18 strict times across sorting, matrix, graph, and image pairs.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Full-context blank-canvas prompting independently achieved 8/9, tying rather than improving the concise prompt.</a:t>
            </a:r>
          </a:p>
          <a:p>
            <a:pPr>
              <a:spcAft>
                <a:spcPts val="10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Endpoint gates prevented overinterpreting the blocked histogram and regex pairs.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experiments/003–012/results/results.json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Sergiy’s explicit proposal: status of each item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91440" cy="1828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3502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1 • Mix prompt/internal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83080"/>
            <a:ext cx="31272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Blank-canvas final-state and output-logit methods were tested. Result: 0/42 strict numerical hybrids.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188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2544" y="1188720"/>
            <a:ext cx="91440" cy="18288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3502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2 • Darwin ideas/programs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1272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Darwin-derived ideas were used; code-state controls were invalid. No Darwin program fitness gain was established.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93608" y="11887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93608" y="1188720"/>
            <a:ext cx="91440" cy="1828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133502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3 • Partial denoise → larger 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1783080"/>
            <a:ext cx="312724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Earlier pilot: 0/15 useful scaffolds; scaffold-only handoff recovered neither parent in 0/4. It added no useful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337560"/>
            <a:ext cx="4800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337560"/>
            <a:ext cx="91440" cy="16916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3483864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4 • Bayesian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31920"/>
            <a:ext cx="445312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Not justified: the tested coordinate crosses a broad unrelated region rather than a smooth useful bridge.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337560"/>
            <a:ext cx="48006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3337560"/>
            <a:ext cx="91440" cy="1691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483864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5 • Darwin search-stage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931920"/>
            <a:ext cx="445312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Not justified for the failed numerical mixer. Direct text-based idea synthesis remains viable; program-level Darwin evaluation is still untested.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44068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Attribution boundary: internal-layer injection, KV-cache mixing, learned sequence-aware mixing, and preregistered confirmation are our later future-work ideas—not Sergiy’s explicit asks.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experiments/001–013 | earlier pilot: partial-scaffolds and scaffold-handoff assessments | answers-to-sergiy.md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What was not completed—and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8840" y="841248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ptos"/>
              </a:defRPr>
            </a:pPr>
            <a:r>
              <a:t>Implementation aspirations were gated by the research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91440" cy="397763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No production Darwin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3127248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The tested numerical synthesis mechanism showed no benefit. Building it into the production sampling pipeline was therefore not scientifically justified.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91440" cy="3977639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47218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No Bayesian optimizer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20240"/>
            <a:ext cx="3127248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The smooth-coordinate gate failed: the path crossed a broad unrelated region instead of a useful continuous semantic 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325880"/>
            <a:ext cx="34747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325880"/>
            <a:ext cx="91440" cy="397763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47218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No program campaign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920240"/>
            <a:ext cx="3127248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No end-to-end generated-program compilation, test, and benchmark campaign followed because the numerical method produced no useful synthesized idea to advance.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10835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02A43"/>
                </a:solidFill>
                <a:latin typeface="Aptos"/>
              </a:defRPr>
            </a:pPr>
            <a:r>
              <a:t>These were proposal implementation aspirations, not forgotten tasks. The underlying research questions were answered, and stopping at the failed gates was the scientifically justified outcome.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experiments/001/results/results.json | experiments/004–012/results/results.json | answers-to-sergiy.md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Limitations: what this study cannot claim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Exploratory/pilot evidence; not preregistered confirmatory evidence.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The strongest composition comparison covers four workloads but one DiffusionGemma revision and public synthetic tasks.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Lexical indicators are reproducible but do not replace blinded human judgment or program benchmarks.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The graph 2/3 strict result includes a human-identifiable third output whose `indptr` token was damaged.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Negative findings apply to final-state interpolation/projection and linear output-logit mixing—not all diffusion methods.</a:t>
            </a:r>
          </a:p>
          <a:p>
            <a:pPr>
              <a:spcAft>
                <a:spcPts val="1000"/>
              </a:spcAft>
              <a:defRPr sz="2200">
                <a:solidFill>
                  <a:srgbClr val="0F172A"/>
                </a:solidFill>
                <a:latin typeface="Aptos"/>
              </a:defRPr>
            </a:pPr>
            <a:r>
              <a:t>Our later future-work ideas—not Sergiy’s explicit asks—include internal-layer injection, KV-cache mixing, learned sequence-aware mixing, and preregistered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technical-report.html § Limitations and scope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102A43"/>
                </a:solidFill>
                <a:latin typeface="Aptos"/>
              </a:defRPr>
            </a:pPr>
            <a:r>
              <a:t>Our future-work plan—not Sergiy’s explicit 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371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91440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8074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1 • Preregister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3127248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Freeze hypotheses, held-out pairs, outcomes, exclusions, seeds, run counts, blinded evaluation, and program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234440"/>
            <a:ext cx="91440" cy="4480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5" y="138074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2 • Test distinct mechanisms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1828800"/>
            <a:ext cx="3127248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Try internal-layer injection, KV-cache mixing, or learned sequence-aware mixing that preserves sequence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9016" y="1234440"/>
            <a:ext cx="91440" cy="44805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380744"/>
            <a:ext cx="31546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02A43"/>
                </a:solidFill>
                <a:latin typeface="Aptos"/>
              </a:defRPr>
            </a:pPr>
            <a:r>
              <a:t>3 • Keep the viable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828800"/>
            <a:ext cx="3127248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ptos"/>
              </a:defRPr>
            </a:pPr>
            <a:r>
              <a:t>Direct text-based synthesis is simpler and succeeded in 17/18 strict runs across four workloads. Revisit optimization only after finding a smooth useful coordinate.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Aptos"/>
              </a:defRPr>
            </a:pPr>
            <a:r>
              <a:t>Conclusion: the tested numerical bridge failed, but the diagnostic ladder produced a clear, reproducible, and scientifically useful negative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Pilot evidence • September 18, 2026 • experiments/001–013 | answers-to-sergiy.md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